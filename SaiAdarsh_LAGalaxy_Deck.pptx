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21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 Movement Intelligence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Recruitment Modeling  ·  EPV Analytics  ·  Defensive Intelligence  ·  Skeletal Pose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4114800" cy="27432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for: Associate Data Scientist — Soccer Operations  |  LA Galaxy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Adarsh Kasula</a:t>
            </a: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Data Scientist  ·  MS Data Science, Rutgers  ·  github.com/SK2837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StatsBomb Open Data  ·  FIFA World Cup 2022  ·  64 Matches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6817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 MOVEMENT INTELLIGENCE PIPELINE  —  LA GALAXY 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Fit This Role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Galaxy · Associate Data Scientist — Soccer Operations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8346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834640" cy="64008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070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1170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Recruitment Modeling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545336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EPV classifier trained on 64 World Cup matches to identify high-value possession zones and evaluate player impact across contexts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8346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834640" cy="64008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0700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21608" y="1170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Soccer-Specific Data Fluency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83280" y="1545336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StatsBomb event data, freeze frames, Opta-style metrics — built ingestion pipelines, unpacked 360° tracking data, modeled 3,200+ events per match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63640" y="1051560"/>
            <a:ext cx="28346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63640" y="1051560"/>
            <a:ext cx="2834640" cy="64008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20700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39128" y="1170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Analytics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400800" y="1545336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space control, PPDA pressing intensity, composite pressure score — production-ready metrics for coaching and tactical prep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28600" y="3063240"/>
            <a:ext cx="28346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228600" y="3063240"/>
            <a:ext cx="2834640" cy="64008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21868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" y="31821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&amp; Injury Risk Modeling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65760" y="3557016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33-keypoint skeleton extraction — knee flexion angle, sprint asymmetry index with biomechanics-grounded injury risk thresholds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46120" y="3063240"/>
            <a:ext cx="28346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246120" y="3063240"/>
            <a:ext cx="2834640" cy="64008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21868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21608" y="31821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Pipelines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383280" y="3557016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Parquet-backed ingestion, Snowflake/Databricks at RWJUH, XGBoost + joblib serialization, Streamlit dashboard deployed on Community Cloud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263640" y="3063240"/>
            <a:ext cx="28346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263640" y="3063240"/>
            <a:ext cx="2834640" cy="64008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21868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39128" y="31821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Tested Code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400800" y="3557016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coverage, black + flake8, mypy type checking, Google-style docstrings — all modules structured for handoff to data engineering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3A4A"/>
          </a:solidFill>
          <a:ln w="12700">
            <a:solidFill>
              <a:srgbClr val="2D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production modules — from raw StatsBomb data to coaching-ready dashboard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57200" cy="384048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960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StatsBomb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2468880" cy="18288"/>
          </a:xfrm>
          <a:prstGeom prst="rect">
            <a:avLst/>
          </a:prstGeom>
          <a:solidFill>
            <a:srgbClr val="3D5068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+ freeze frames → Parquet. Cache-first, graceful fallback, row-count logging.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27248" y="960120"/>
            <a:ext cx="2743200" cy="173736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27248" y="960120"/>
            <a:ext cx="457200" cy="384048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27248" y="960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30168" y="1005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30168" y="1280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64408" y="1554480"/>
            <a:ext cx="2468880" cy="18288"/>
          </a:xfrm>
          <a:prstGeom prst="rect">
            <a:avLst/>
          </a:prstGeom>
          <a:solidFill>
            <a:srgbClr val="3D5068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64408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position, pressure index, distance/angle, defender count — 8-feature matrix per event.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960120"/>
            <a:ext cx="2743200" cy="173736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960120"/>
            <a:ext cx="457200" cy="384048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0" y="960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1005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epv_model.py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1280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Modeling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554480"/>
            <a:ext cx="2468880" cy="18288"/>
          </a:xfrm>
          <a:prstGeom prst="rect">
            <a:avLst/>
          </a:prstGeom>
          <a:solidFill>
            <a:srgbClr val="3D5068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7220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EPV classifier — P(shot in N events). 50×50 pitch heatmap. Joblib serialized.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8600" y="2880360"/>
            <a:ext cx="457200" cy="384048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860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defensive.py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Intelligence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474720"/>
            <a:ext cx="2468880" cy="18288"/>
          </a:xfrm>
          <a:prstGeom prst="rect">
            <a:avLst/>
          </a:prstGeom>
          <a:solidFill>
            <a:srgbClr val="3D5068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space control, PPDA pressing metric, composite pressure score — match-level KPIs.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27248" y="2880360"/>
            <a:ext cx="2743200" cy="173736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127248" y="2880360"/>
            <a:ext cx="457200" cy="384048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27248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30168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pose_analysis.py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30168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Risk Modeling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64408" y="3474720"/>
            <a:ext cx="2468880" cy="18288"/>
          </a:xfrm>
          <a:prstGeom prst="rect">
            <a:avLst/>
          </a:prstGeom>
          <a:solidFill>
            <a:srgbClr val="3D5068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64408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33-keypoint skeleton. Knee flexion, sprint asymmetry, injury risk thresholds.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35040" y="2880360"/>
            <a:ext cx="2743200" cy="173736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035040" y="2880360"/>
            <a:ext cx="457200" cy="384048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3504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3796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streamlit_app.py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37960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Dashboard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72200" y="3474720"/>
            <a:ext cx="2468880" cy="18288"/>
          </a:xfrm>
          <a:prstGeom prst="rect">
            <a:avLst/>
          </a:prstGeom>
          <a:solidFill>
            <a:srgbClr val="3D5068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72200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 live dashboard — Match Explorer · Pose Analyzer · Player Comparison.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Recruitment &amp; Valuation Modeling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requirement: statistical/ML models to compare players and identify recruitment targets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1920240" cy="54864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115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Cup matches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77440" y="1051560"/>
            <a:ext cx="1920240" cy="54864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1115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77440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26280" y="1051560"/>
            <a:ext cx="1920240" cy="54864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1115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26280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75120" y="1051560"/>
            <a:ext cx="1920240" cy="54864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1115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75120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features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EPV Model Works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8600" y="2651760"/>
            <a:ext cx="320040" cy="32004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26700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freeze frame event, compute 8 spatial features (ball position, pressure, angle, defenders)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3154680"/>
            <a:ext cx="320040" cy="32004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1729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predicts P(shot within next 5 events) — EPV score 0 to 1 per possession frame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3657600"/>
            <a:ext cx="320040" cy="32004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860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6758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50×50 grid over the pitch, predict EPV at every cell to generate a heatmap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4160520"/>
            <a:ext cx="320040" cy="32004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2860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178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EPV zones (red) = dangerous areas for opponent; overlays directly onto StatsBomb pitch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0" y="1051560"/>
            <a:ext cx="3886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29200" y="1051560"/>
            <a:ext cx="3886200" cy="54864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66360" y="1170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Applications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166360" y="1572768"/>
            <a:ext cx="54864" cy="59436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21808" y="1572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Cross-league player comparison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21808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EPV score normalizes performance across MLS, Liga MX, Opta-tracked leagues — apples-to-apples comparison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66360" y="2377440"/>
            <a:ext cx="54864" cy="59436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321808" y="2377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undervalued targets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21808" y="2633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who generate high EPV in low-visibility leagues surface as high-value recruitment candidates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66360" y="3182112"/>
            <a:ext cx="54864" cy="59436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21808" y="3182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context benchmarking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21808" y="34381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EPV profiles against LA Galaxy tactical needs — identify positional fits by heat zone analysis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166360" y="3986784"/>
            <a:ext cx="54864" cy="59436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321808" y="3986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for scouts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21808" y="42428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heatmaps and event tables formatted for non-technical recruitment staff to interpret directly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4A"/>
          </a:solidFill>
          <a:ln w="12700">
            <a:solidFill>
              <a:srgbClr val="2D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&amp; Opposition Intelligence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requirement: analyze opponent tendencies, structures, and patterns for match preparation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393192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743200" cy="54864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155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155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Space Control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1600200"/>
            <a:ext cx="2377440" cy="685800"/>
          </a:xfrm>
          <a:prstGeom prst="rect">
            <a:avLst/>
          </a:prstGeom>
          <a:solidFill>
            <a:srgbClr val="1A2F50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9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11480" y="20299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map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9768" y="2478024"/>
            <a:ext cx="109728" cy="109728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2648" y="239572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120×80 pitch discretized into grid — each cell assigned to nearest player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9768" y="2999232"/>
            <a:ext cx="109728" cy="109728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2648" y="291693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cells = controlled area in yd² per team per match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29768" y="3520440"/>
            <a:ext cx="109728" cy="109728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2648" y="343814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team dominates spatial shape and positioning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9768" y="4041648"/>
            <a:ext cx="109728" cy="109728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12648" y="39593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informs defensive structure analysis and opposition prep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172968" y="1005840"/>
            <a:ext cx="2743200" cy="393192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172968" y="1005840"/>
            <a:ext cx="2743200" cy="54864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115568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813048" y="11155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PPDA Pressing Intensity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3355848" y="1600200"/>
            <a:ext cx="2377440" cy="685800"/>
          </a:xfrm>
          <a:prstGeom prst="rect">
            <a:avLst/>
          </a:prstGeom>
          <a:solidFill>
            <a:srgbClr val="1A2F50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355848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9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3355848" y="20299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vs Spain PPDA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374136" y="2478024"/>
            <a:ext cx="109728" cy="109728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557016" y="239572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passes allowed ÷ defensive actions in pressing zone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374136" y="2999232"/>
            <a:ext cx="109728" cy="109728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557016" y="291693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metric used by elite clubs and federations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374136" y="3520440"/>
            <a:ext cx="109728" cy="109728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3557016" y="343814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vs Spain: 1.96 PPDA — elite pressing confirmed by data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374136" y="4041648"/>
            <a:ext cx="109728" cy="109728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557016" y="39593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opponent press-resistance for match tactical planning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117336" y="1005840"/>
            <a:ext cx="2743200" cy="393192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117336" y="1005840"/>
            <a:ext cx="2743200" cy="54864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115568"/>
            <a:ext cx="365760" cy="36576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757416" y="11155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Pressure Score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6300216" y="1600200"/>
            <a:ext cx="2377440" cy="685800"/>
          </a:xfrm>
          <a:prstGeom prst="rect">
            <a:avLst/>
          </a:prstGeom>
          <a:solidFill>
            <a:srgbClr val="1A2F50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6300216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9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60–66</a:t>
            </a:r>
            <a:endParaRPr lang="en-US" sz="2200" dirty="0"/>
          </a:p>
        </p:txBody>
      </p:sp>
      <p:sp>
        <p:nvSpPr>
          <p:cNvPr id="41" name="Text 36"/>
          <p:cNvSpPr/>
          <p:nvPr/>
        </p:nvSpPr>
        <p:spPr>
          <a:xfrm>
            <a:off x="6300216" y="20299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2022 range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6318504" y="2478024"/>
            <a:ext cx="109728" cy="109728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6501384" y="239572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PPDA + 30% Voronoi + 30% pressing density — 0 to 100 scale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318504" y="2999232"/>
            <a:ext cx="109728" cy="109728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6501384" y="291693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so all sub-metrics are comparable across matches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6318504" y="3520440"/>
            <a:ext cx="109728" cy="109728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6501384" y="343814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2022 range: 60 to 66 — single number for coaching briefings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6318504" y="4041648"/>
            <a:ext cx="109728" cy="109728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6501384" y="39593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integrate with LA Galaxy match prep reporting workflow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Pose Analysis &amp; Injury Risk Modeling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requirement: player development pathways, performance evaluation, return-to-play benchmarks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114800" cy="54864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777240" cy="25603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34440" y="1554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 image or video clip (JPG/PNG/MP4)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777240" cy="25603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3134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4440" y="2313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Tasks API extracts 33 keypoints — x, y, z coordinates + visibility score per landmark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72384"/>
            <a:ext cx="777240" cy="25603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0723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joints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34440" y="30723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· Knee · Ankle · Heel · Foot index — both sides independently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831336"/>
            <a:ext cx="777240" cy="25603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8313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CSV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38313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landmark_name, x, y, z, visibility per row — pipeline-ready for downstream analysis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30752"/>
            <a:ext cx="3749040" cy="1005840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776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 — Sprint Photo Analysis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0416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knee flexion: 126°  ·  Right knee: ~140°  ·  Sprint asymmetry: 23.4%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scores all &gt;0.99 — high-confidence biomechanical output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1005840"/>
            <a:ext cx="43434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1005840"/>
            <a:ext cx="4343400" cy="54864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1124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Biomechanical Metrics Computed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1554480"/>
            <a:ext cx="402336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1600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Flexion Angle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18470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∠(hip → knee → ankle) via arccos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103120"/>
            <a:ext cx="54864" cy="310896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18888" y="21214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&lt;160° at ground contact = injury risk flag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651760"/>
            <a:ext cx="402336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2697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Asymmetry Index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29443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|left_stride − right_stride| / avg × 100%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200400"/>
            <a:ext cx="54864" cy="310896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18888" y="32186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&gt;10% asymmetry = elevated injury risk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749040"/>
            <a:ext cx="402336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3794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Length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4041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 heel → foot_index ‖ in normalized coords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4297680"/>
            <a:ext cx="54864" cy="310896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18888" y="43159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across frames for fatigue tracking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A4A"/>
          </a:solidFill>
          <a:ln w="12700">
            <a:solidFill>
              <a:srgbClr val="2D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LA Galaxy JD Requirements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maps to a specific requirement in the Associate Data Scientist — Soccer Operations role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778240" cy="50292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54864" cy="50292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424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recruitment — statistical/ML models to compare players across leagues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60520" y="1115568"/>
            <a:ext cx="18288" cy="292608"/>
          </a:xfrm>
          <a:prstGeom prst="rect">
            <a:avLst/>
          </a:prstGeom>
          <a:solidFill>
            <a:srgbClr val="3D5068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51960" y="104241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EPV classifier trained on 64 WC matches — P(shot in N events) per possession frame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321040" y="1005840"/>
            <a:ext cx="640080" cy="502920"/>
          </a:xfrm>
          <a:prstGeom prst="rect">
            <a:avLst/>
          </a:prstGeom>
          <a:solidFill>
            <a:srgbClr val="1A6E3A"/>
          </a:solidFill>
          <a:ln w="12700">
            <a:solidFill>
              <a:srgbClr val="1A6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21040" y="1005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E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1581912"/>
            <a:ext cx="8778240" cy="50292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2880" y="1581912"/>
            <a:ext cx="54864" cy="50292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6184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Soccer-specific datasets — StatsBomb, TRACAB, SkillCorner fluency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60520" y="1691640"/>
            <a:ext cx="18288" cy="292608"/>
          </a:xfrm>
          <a:prstGeom prst="rect">
            <a:avLst/>
          </a:prstGeom>
          <a:solidFill>
            <a:srgbClr val="3D5068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51960" y="16184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StatsBomb API ingestion — events, freeze frames, 360° tracking data — Parquet-backed pipeline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321040" y="1581912"/>
            <a:ext cx="640080" cy="502920"/>
          </a:xfrm>
          <a:prstGeom prst="rect">
            <a:avLst/>
          </a:prstGeom>
          <a:solidFill>
            <a:srgbClr val="1A6E3A"/>
          </a:solidFill>
          <a:ln w="12700">
            <a:solidFill>
              <a:srgbClr val="1A6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21040" y="15819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E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2157984"/>
            <a:ext cx="8778240" cy="50292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880" y="2157984"/>
            <a:ext cx="54864" cy="50292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194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value frameworks and pitch control concepts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60520" y="2267712"/>
            <a:ext cx="18288" cy="292608"/>
          </a:xfrm>
          <a:prstGeom prst="rect">
            <a:avLst/>
          </a:prstGeom>
          <a:solidFill>
            <a:srgbClr val="3D5068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51960" y="21945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EPV probability surface heatmap on 50×50 pitch grid — Voronoi space control per match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321040" y="2157984"/>
            <a:ext cx="640080" cy="502920"/>
          </a:xfrm>
          <a:prstGeom prst="rect">
            <a:avLst/>
          </a:prstGeom>
          <a:solidFill>
            <a:srgbClr val="1A6E3A"/>
          </a:solidFill>
          <a:ln w="12700">
            <a:solidFill>
              <a:srgbClr val="1A6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21040" y="215798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E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82880" y="2734056"/>
            <a:ext cx="8778240" cy="50292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" y="2734056"/>
            <a:ext cx="54864" cy="50292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27706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intelligence — opponent tendencies and structures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60520" y="2843784"/>
            <a:ext cx="18288" cy="292608"/>
          </a:xfrm>
          <a:prstGeom prst="rect">
            <a:avLst/>
          </a:prstGeom>
          <a:solidFill>
            <a:srgbClr val="3D5068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51960" y="27706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PPDA pressing metric + Voronoi + composite pressure score — match-level coaching output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21040" y="2734056"/>
            <a:ext cx="640080" cy="502920"/>
          </a:xfrm>
          <a:prstGeom prst="rect">
            <a:avLst/>
          </a:prstGeom>
          <a:solidFill>
            <a:srgbClr val="1A6E3A"/>
          </a:solidFill>
          <a:ln w="12700">
            <a:solidFill>
              <a:srgbClr val="1A6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21040" y="27340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E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" y="3310128"/>
            <a:ext cx="8778240" cy="50292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82880" y="3310128"/>
            <a:ext cx="54864" cy="50292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33467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and recurring dashboards for coaching staff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60520" y="3419856"/>
            <a:ext cx="18288" cy="292608"/>
          </a:xfrm>
          <a:prstGeom prst="rect">
            <a:avLst/>
          </a:prstGeom>
          <a:solidFill>
            <a:srgbClr val="3D5068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51960" y="334670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 Streamlit dashboard deployed live — Match Explorer, Pose Analyzer, Player Comparison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321040" y="3310128"/>
            <a:ext cx="640080" cy="502920"/>
          </a:xfrm>
          <a:prstGeom prst="rect">
            <a:avLst/>
          </a:prstGeom>
          <a:solidFill>
            <a:srgbClr val="1A6E3A"/>
          </a:solidFill>
          <a:ln w="12700">
            <a:solidFill>
              <a:srgbClr val="1A6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21040" y="33101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E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82880" y="3886200"/>
            <a:ext cx="8778240" cy="50292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82880" y="3886200"/>
            <a:ext cx="54864" cy="50292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0040" y="392277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tracking and spatial modeling / injury risk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60520" y="3995928"/>
            <a:ext cx="18288" cy="292608"/>
          </a:xfrm>
          <a:prstGeom prst="rect">
            <a:avLst/>
          </a:prstGeom>
          <a:solidFill>
            <a:srgbClr val="3D5068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251960" y="392277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33-keypoint pose — knee flexion, sprint asymmetry with biomechanics-based risk flags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321040" y="3886200"/>
            <a:ext cx="640080" cy="502920"/>
          </a:xfrm>
          <a:prstGeom prst="rect">
            <a:avLst/>
          </a:prstGeom>
          <a:solidFill>
            <a:srgbClr val="1A6E3A"/>
          </a:solidFill>
          <a:ln w="12700">
            <a:solidFill>
              <a:srgbClr val="1A6E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321040" y="3886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E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2880" y="4462272"/>
            <a:ext cx="8778240" cy="502920"/>
          </a:xfrm>
          <a:prstGeom prst="rect">
            <a:avLst/>
          </a:prstGeom>
          <a:solidFill>
            <a:srgbClr val="2D3A4A"/>
          </a:solidFill>
          <a:ln w="635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82880" y="4462272"/>
            <a:ext cx="54864" cy="50292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0040" y="44988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ML pipelines with Azure DevOps / Git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60520" y="4572000"/>
            <a:ext cx="18288" cy="292608"/>
          </a:xfrm>
          <a:prstGeom prst="rect">
            <a:avLst/>
          </a:prstGeom>
          <a:solidFill>
            <a:srgbClr val="3D5068"/>
          </a:solidFill>
          <a:ln w="12700">
            <a:solidFill>
              <a:srgbClr val="3D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251960" y="449884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+ Snowflake pipelines at RWJUH; pytest, black, mypy — Git-managed throughout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321040" y="4462272"/>
            <a:ext cx="640080" cy="50292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321040" y="44622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Related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Engineering Standards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Production-quality code aligned with LA Galaxy's data engineering expectations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011680" cy="38404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09344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5087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statsbombpy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39112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1938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 / scipy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" y="23682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2.0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" y="279806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28416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32278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pyarrow / parquet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95728" y="1005840"/>
            <a:ext cx="20116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95728" y="1005840"/>
            <a:ext cx="2011680" cy="38404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87168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32888" y="1609344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88336" y="15087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0.10+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32888" y="2039112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88336" y="1938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opencv-python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32888" y="2468880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88336" y="23682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Tasks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32888" y="2898648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88336" y="279806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Landmarker Full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32888" y="3328416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88336" y="32278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33-keypoint skeleton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62856" y="1005840"/>
            <a:ext cx="20116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62856" y="1005840"/>
            <a:ext cx="2011680" cy="38404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54296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0016" y="1609344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55464" y="15087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1.28+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0016" y="2039112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55464" y="1938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mplsoccer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0016" y="2468880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55464" y="23682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0016" y="2898648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55464" y="279806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5.x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0016" y="3328416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55464" y="32278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Deployed: Community Cloud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29984" y="1005840"/>
            <a:ext cx="20116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729984" y="1005840"/>
            <a:ext cx="2011680" cy="38404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21424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67144" y="1609344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022592" y="15087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pytest-cov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67144" y="2039112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022592" y="1938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+ flake8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67144" y="2468880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022592" y="23682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 type checking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67144" y="2898648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022592" y="279806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Google-style docstrings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67144" y="3328416"/>
            <a:ext cx="91440" cy="91440"/>
          </a:xfrm>
          <a:prstGeom prst="ellipse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022592" y="32278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 logging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28600" y="3931920"/>
            <a:ext cx="8686800" cy="10058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28600" y="3931920"/>
            <a:ext cx="73152" cy="1005840"/>
          </a:xfrm>
          <a:prstGeom prst="rect">
            <a:avLst/>
          </a:prstGeom>
          <a:solidFill>
            <a:srgbClr val="C89B37"/>
          </a:solidFill>
          <a:ln w="12700">
            <a:solidFill>
              <a:srgbClr val="C89B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11480" y="44988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Adarsh Kasula  </a:t>
            </a: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linkedin.com/in/saiadarshkasula  ·  github.com/SK2837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1212</Words>
  <Application>Microsoft Macintosh PowerPoint</Application>
  <PresentationFormat>On-screen Show (16:9)</PresentationFormat>
  <Paragraphs>179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Soccer Movement Intelligence Pipeline — LA Galaxy</dc:title>
  <dc:subject>PptxGenJS Presentation</dc:subject>
  <dc:creator>PptxGenJS</dc:creator>
  <cp:lastModifiedBy>Sai Adarsh Kasula</cp:lastModifiedBy>
  <cp:revision>2</cp:revision>
  <dcterms:created xsi:type="dcterms:W3CDTF">2026-03-28T16:15:02Z</dcterms:created>
  <dcterms:modified xsi:type="dcterms:W3CDTF">2026-03-28T18:44:18Z</dcterms:modified>
</cp:coreProperties>
</file>