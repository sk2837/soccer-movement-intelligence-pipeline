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71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saiadarshkasula/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github.com/SK2837/Soccer-Movement-Intelligence-Pipel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1887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Movement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20040" y="29718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player tracking · EPV modeling · Skeletal pose analysis · Defensive analytics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Adarsh Kasula  ·  Data Scientist  ·  github.com/SK2837  ·  FIFA World Cup 2022 · StatsBomb Open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mirror exactly what U.S. Soccer's IPS department works 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3383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8912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tracking + 360° freeze frames → off-ball run detection, velocity vectors, time-to-space metrics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834640" cy="3383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83464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371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10712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EPV classifier trained on 64 World Cup matches → P(shot within N events) per possession frame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834640" cy="3383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8346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71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Analytics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2512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 + PPDA pressing intensity + composite pressure score across matches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F3A2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11480" y="4690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to: "off-ball movement, possession value, injury risk modeling, 3D skeletal tracking, and spatial modeling"  — U.S. Soccer JD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73152" cy="10972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418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27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API → events + freeze frames → Parquet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984248"/>
            <a:ext cx="27432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73152" cy="10972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21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" y="2551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807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position · pressure index · distance/angle · n_defenders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3264408"/>
            <a:ext cx="27432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731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epv_model.py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087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→ EPV probability surface heatmap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73152" cy="10972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9418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19472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defensive.py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1527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 · PPDA · composite pressure score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1984248"/>
            <a:ext cx="27432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14884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731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2221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19472" y="2551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pose_analysis.py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2807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33 keypoints → knee flexion · sprint asymmetry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75120" y="3264408"/>
            <a:ext cx="27432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429000"/>
            <a:ext cx="425196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73152" cy="109728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919472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streamlit_app.py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4087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dashboard — Match Explorer · Pose Analyzer ·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Data Ingestion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Ingested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12893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31720" y="12893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73736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ingested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31720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matches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24028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2295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match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31720" y="2295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 events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74320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frame rows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33172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41,562 per match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24612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33009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31720" y="33009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(fast, columnar)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3749040"/>
            <a:ext cx="4114800" cy="41148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3803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331720" y="3803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Open Data (free)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63440" y="1234440"/>
            <a:ext cx="4206240" cy="80467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63440" y="1234440"/>
            <a:ext cx="6400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00600" y="1289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logic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00600" y="15453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re-download if Parquet already exists — fast iteration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63440" y="2148840"/>
            <a:ext cx="4206240" cy="80467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663440" y="2148840"/>
            <a:ext cx="6400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00600" y="2203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unpacking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2459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_expand_location() extracts [x,y] lists into typed float columns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3063240"/>
            <a:ext cx="4206240" cy="80467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663440" y="3063240"/>
            <a:ext cx="6400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00600" y="3118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800600" y="3374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empty DataFrame if 360° data unavailable (not all competitions have it)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63440" y="3977640"/>
            <a:ext cx="4206240" cy="80467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3977640"/>
            <a:ext cx="6400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00600" y="40325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4800600" y="42885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logs row counts and file paths for traceability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Feature Engineering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86968" y="6400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possession feature matrix that feeds the EPV model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64008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9768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ball_x, ball_y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353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coordinates per event, unpacked from StatsBomb location lists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98424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984248"/>
            <a:ext cx="64008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9768" y="2039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distance_to_goal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" y="2313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from ball to goal center (120, 40) in yards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94436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2944368"/>
            <a:ext cx="64008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" y="2999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angle_to_goal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9768" y="32735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subtended by goal mouth (36–44) using arccos formula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90448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3904488"/>
            <a:ext cx="64008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9768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pressure_index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9768" y="42336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∑(1/dist) for all defenders within 10 yards — higher = more pressure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02412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09160" y="1024128"/>
            <a:ext cx="64008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64608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n_attackers_ahead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64608" y="1353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teammates with x &gt; ball_x — proxy for counter-attack threat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09160" y="198424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09160" y="1984248"/>
            <a:ext cx="64008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64608" y="2039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n_defenders_between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64608" y="2313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defenders between ball and goal — defensive density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294436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09160" y="2944368"/>
            <a:ext cx="64008" cy="82296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64608" y="2999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time_to_space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64608" y="32735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nearest defender / ball speed — seconds to open corridor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09160" y="3904488"/>
            <a:ext cx="42062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09160" y="3904488"/>
            <a:ext cx="64008" cy="8229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64608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shot_within_5 (label)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864608" y="42336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did this possession produce a shot within next 5 events?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EPV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86968" y="6400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Possession Value — probability a possession leads to a shot within N events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0116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743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05156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051560"/>
            <a:ext cx="20116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6888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0.258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2468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63440" y="1051560"/>
            <a:ext cx="20116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6344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6634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trained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105156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58000" y="1051560"/>
            <a:ext cx="20116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163K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8580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2907792"/>
            <a:ext cx="420624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84048" y="3035808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8404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7824" y="2999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freeze frame event, compute all 8 spatial features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09160" y="2907792"/>
            <a:ext cx="420624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818888" y="3035808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1888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12664" y="2999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 P(shot occurs within next 5 events) → EPV score 0–1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4320" y="3712464"/>
            <a:ext cx="420624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84048" y="3840480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404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7824" y="3803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50×50 grid over the pitch, predict EPV at every cell → heatmap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09160" y="3712464"/>
            <a:ext cx="4206240" cy="685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818888" y="3840480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1888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312664" y="3803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EPV zones (red) = most dangerous areas; lower (green) = safer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Defensive Analytics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804672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804672"/>
            <a:ext cx="28346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601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pitch cell → nearest player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65760" y="2121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120×80 pitch discretized into a grid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5760" y="2459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Each cell assigned to nearest player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Sum of cells = controlled area (yd²)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Less opponent space → better defense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3657600"/>
            <a:ext cx="2651760" cy="1097280"/>
          </a:xfrm>
          <a:prstGeom prst="rect">
            <a:avLst/>
          </a:prstGeom>
          <a:solidFill>
            <a:srgbClr val="0A2A1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11480" y="373075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team dominates spatial control — critical for defensive shape analysis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0" y="804672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0" y="804672"/>
            <a:ext cx="283464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960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375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3375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 passes / Defensive actions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337560" y="2121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Counts opponent passes in defensive zone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337560" y="2459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Divides by team's pressing actions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33756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Lower PPDA = more aggressive press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33756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Japan vs Spain: 1.96 (elite pressing)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91840" y="3657600"/>
            <a:ext cx="2651760" cy="1097280"/>
          </a:xfrm>
          <a:prstGeom prst="rect">
            <a:avLst/>
          </a:prstGeom>
          <a:solidFill>
            <a:srgbClr val="0A2A1A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383280" y="373075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pressing metric used by elite clubs and federations worldwide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72200" y="804672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172200" y="804672"/>
            <a:ext cx="2834640" cy="640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96012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093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Score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3093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 PPDA + 30% Voronoi + 30% density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309360" y="2121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Composite 0–100 scale per match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309360" y="2459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Weighted across three sub-metrics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30936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Normalized so all components comparable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0936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Range in WC 2022: 60–66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263640" y="3657600"/>
            <a:ext cx="2651760" cy="1097280"/>
          </a:xfrm>
          <a:prstGeom prst="rect">
            <a:avLst/>
          </a:prstGeom>
          <a:solidFill>
            <a:srgbClr val="0A2A1A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355080" y="373075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interpretable number suitable for player readiness briefings to coaching staff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Skeletal Pose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86968" y="6400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 — 33 keypoints extracted per frame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9875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371600"/>
            <a:ext cx="4114800" cy="5029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1453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98448" y="1453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image or video clip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4114800" cy="5029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2048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98448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API extracts 33 keypoints (x, y, z, visibility)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560320"/>
            <a:ext cx="4114800" cy="5029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2642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joints: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98448" y="2642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· Knee · Ankle · Heel · Foot index per side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154680"/>
            <a:ext cx="4114800" cy="5029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4048" y="32369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CSV: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98448" y="3236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landmark_name, x, y, z, visibility per row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98755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Metrics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63440" y="1371600"/>
            <a:ext cx="4206240" cy="107899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1371600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0600" y="1435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Flexion Angle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∠(hip → knee → ankle) via arccos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Sprinting range: 140–170°.  &lt;160° at ground contact = injury risk flag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2560320"/>
            <a:ext cx="4206240" cy="107899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63440" y="2560320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00600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Asymmetry Index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00600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|left_stride − right_stride| / avg × 100%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3182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 asymmetry = elevated injury risk threshold from biomechanics literature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3749040"/>
            <a:ext cx="4206240" cy="1078992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63440" y="3749040"/>
            <a:ext cx="64008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00600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Length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00600" y="4096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heel → foot_index ‖  (normalized coords)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00600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frames for per-player workload and fatigue monitoring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3913632"/>
            <a:ext cx="8595360" cy="1051560"/>
          </a:xfrm>
          <a:prstGeom prst="rect">
            <a:avLst/>
          </a:prstGeom>
          <a:solidFill>
            <a:srgbClr val="0A1F3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38912" y="3977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 — Sprint photo analysis: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38912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knee flexion: 126°  ·  Right knee: ~140°  ·  Sprint asymmetry: 23.4%  ·  Visibility scores all &gt;0.99 except occluded right wrist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Live Results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283464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Match Explorer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8912" y="1325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 any World Cup 2022 match from dropdown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984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EPV heatmap rendered over StatsBomb pitch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6426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possession events ranked by EPV score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33009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Defensive pressure score breakdown panel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Pose Analyzer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410712" y="1325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any soccer player image (JPG/PNG)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10712" y="1984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MediaPipe extracts 33 skeletal keypoints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0712" y="26426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Displays left/right knee flexion angles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10712" y="33009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Sprint asymmetry index with injury risk flag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822960"/>
            <a:ext cx="2834640" cy="416052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17920" y="822960"/>
            <a:ext cx="2834640" cy="38404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5508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3: Player Comparison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382512" y="1325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 up to 10 matches to compare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82512" y="19842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Heatmap table: PPDA · pressure · Voronoi · EPV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82512" y="26426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 charts: defensive pressure scores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82512" y="33009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Scatter: Mean EPV vs Shot Rate per match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F3A2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1480" y="46725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Japan vs Spain had lowest PPDA (1.96) — world-class pressing confirmed by the data, matching the famous upset result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Engineering Standards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841248"/>
            <a:ext cx="2057400" cy="4114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" y="841248"/>
            <a:ext cx="205740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" y="1325880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3441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statsbombpy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" y="1947672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1965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/ numpy / scipy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" y="2569464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258775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2.0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" y="3191256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32095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8328" y="3813048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8313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pyarrow / parquet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23160" y="841248"/>
            <a:ext cx="2057400" cy="4114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23160" y="841248"/>
            <a:ext cx="2057400" cy="365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14600" y="8686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32888" y="1325880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606040" y="13441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 0.10+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532888" y="1947672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606040" y="1965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32888" y="2569464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606040" y="258775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 Tasks API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32888" y="3191256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606040" y="32095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 Landmarker Full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532888" y="3813048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606040" y="38313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33-keypoint skeleton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17720" y="841248"/>
            <a:ext cx="2057400" cy="4114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17720" y="841248"/>
            <a:ext cx="2057400" cy="36576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09160" y="8686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27448" y="1325880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00600" y="13441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1.28+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27448" y="1947672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00600" y="1965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mplsoccer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27448" y="2569464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00600" y="258775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27448" y="3191256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00600" y="32095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 5.x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27448" y="3813048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00600" y="38313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Deployed: Community Cloud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812280" y="841248"/>
            <a:ext cx="2057400" cy="4114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812280" y="841248"/>
            <a:ext cx="2057400" cy="36576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903720" y="8686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922008" y="1325880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995160" y="134416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+ pytest-cov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922008" y="1947672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995160" y="19659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 + flake8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922008" y="2569464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995160" y="258775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mypy type checking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922008" y="3191256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995160" y="32095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Docstrings (Google style)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922008" y="3813048"/>
            <a:ext cx="1828800" cy="475488"/>
          </a:xfrm>
          <a:prstGeom prst="rect">
            <a:avLst/>
          </a:prstGeom>
          <a:solidFill>
            <a:srgbClr val="0D1E30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995160" y="38313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 (stdlib)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182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U.S. Soccer JD Requirements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896112"/>
            <a:ext cx="8778240" cy="512064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models of player movement in soccer-specific context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434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EPV model + off-ball run detection on World Cup 360° tracking data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29600" y="987552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0" y="9784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2880" y="1481328"/>
            <a:ext cx="8778240" cy="512064"/>
          </a:xfrm>
          <a:prstGeom prst="rect">
            <a:avLst/>
          </a:prstGeom>
          <a:solidFill>
            <a:srgbClr val="0D1B2E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" y="1545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2D tracking and event data into tactical performance insights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43400" y="1545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8-feature possession matrix → EPV probability + pitch heatmap visualization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0" y="1572768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0" y="156362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21305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3D skeletal tracking and spatial modeling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43400" y="2130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33-point skeleton extraction with z-depth, knee flexion, asymmetry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2157984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0" y="21488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82880" y="2651760"/>
            <a:ext cx="8778240" cy="512064"/>
          </a:xfrm>
          <a:prstGeom prst="rect">
            <a:avLst/>
          </a:prstGeom>
          <a:solidFill>
            <a:srgbClr val="0D1B2E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0040" y="27157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off-ball movement, defensive contribution, possession value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43400" y="2715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Off-ball run distance, velocity vectors, Voronoi control, PPDA pressing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229600" y="2743200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29600" y="27340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82880" y="3236976"/>
            <a:ext cx="8778240" cy="512064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33009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injury risk modeling and return-to-play benchmarks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343400" y="3300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asymmetry index + knee flexion angle with injury risk threshold flags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29600" y="3328416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229600" y="331927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82880" y="3822192"/>
            <a:ext cx="8778240" cy="512064"/>
          </a:xfrm>
          <a:prstGeom prst="rect">
            <a:avLst/>
          </a:prstGeom>
          <a:solidFill>
            <a:srgbClr val="0D1B2E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2004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cloud-based data architecture (AWS, Azure, Databricks)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343400" y="3886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/ Snowflake experience at RWJUH; pipeline deployment-ready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0" y="3913632"/>
            <a:ext cx="685800" cy="31089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0" y="39044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Related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82880" y="4407408"/>
            <a:ext cx="8778240" cy="512064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20040" y="44714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scalable, production-ready models on large and complex datasets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43400" y="4471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joblib serialization + Streamlit deployment on 163K training rows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229600" y="4498848"/>
            <a:ext cx="685800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29600" y="44897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role.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portfolio project — every module maps to a specific requirement in the U.S. Soccer IPS Data Scientist JD.</a:t>
            </a:r>
            <a:endParaRPr lang="en-US" sz="1400" dirty="0"/>
          </a:p>
        </p:txBody>
      </p:sp>
      <p:sp>
        <p:nvSpPr>
          <p:cNvPr id="7" name="Shape 4">
            <a:hlinkClick r:id="rId4"/>
          </p:cNvPr>
          <p:cNvSpPr/>
          <p:nvPr/>
        </p:nvSpPr>
        <p:spPr>
          <a:xfrm>
            <a:off x="1097280" y="2788920"/>
            <a:ext cx="2286000" cy="13716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8803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</a:t>
            </a:r>
            <a:r>
              <a:rPr lang="en-US" sz="950" dirty="0" err="1">
                <a:solidFill>
                  <a:schemeClr val="bg1"/>
                </a:solidFill>
              </a:rPr>
              <a:t>github.com</a:t>
            </a:r>
            <a:r>
              <a:rPr lang="en-US" sz="950" dirty="0">
                <a:solidFill>
                  <a:schemeClr val="bg1"/>
                </a:solidFill>
              </a:rPr>
              <a:t>/SK2837/Soccer-Movement-Intelligence-Pipeline</a:t>
            </a:r>
          </a:p>
        </p:txBody>
      </p:sp>
      <p:sp>
        <p:nvSpPr>
          <p:cNvPr id="15" name="Shape 10">
            <a:hlinkClick r:id="rId6"/>
          </p:cNvPr>
          <p:cNvSpPr/>
          <p:nvPr/>
        </p:nvSpPr>
        <p:spPr>
          <a:xfrm>
            <a:off x="6217920" y="2788920"/>
            <a:ext cx="2286000" cy="1371600"/>
          </a:xfrm>
          <a:prstGeom prst="rect">
            <a:avLst/>
          </a:prstGeom>
          <a:solidFill>
            <a:srgbClr val="132236"/>
          </a:solidFill>
          <a:ln w="12700">
            <a:solidFill>
              <a:srgbClr val="1D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8803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linkedin.com/in/saiadarshkasula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Adarsh Kasula  ·  MS Data Science, Rutgers  ·  RWJUH Cardiology AI  ·  AWS Certified Data Engineer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1384</Words>
  <Application>Microsoft Macintosh PowerPoint</Application>
  <PresentationFormat>On-screen Show 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Soccer Movement Intelligence Pipeline</dc:title>
  <dc:subject>PptxGenJS Presentation</dc:subject>
  <dc:creator>Sai Adarsh Kasula</dc:creator>
  <cp:lastModifiedBy>Sai Adarsh Kasula</cp:lastModifiedBy>
  <cp:revision>2</cp:revision>
  <dcterms:created xsi:type="dcterms:W3CDTF">2026-03-27T19:46:14Z</dcterms:created>
  <dcterms:modified xsi:type="dcterms:W3CDTF">2026-03-27T20:19:29Z</dcterms:modified>
</cp:coreProperties>
</file>